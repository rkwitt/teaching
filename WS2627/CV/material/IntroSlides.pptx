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65" r:id="rId5"/>
    <p:sldId id="260" r:id="rId6"/>
    <p:sldId id="280" r:id="rId7"/>
    <p:sldId id="262" r:id="rId8"/>
    <p:sldId id="267" r:id="rId9"/>
    <p:sldId id="282" r:id="rId10"/>
    <p:sldId id="271" r:id="rId11"/>
    <p:sldId id="281" r:id="rId12"/>
    <p:sldId id="273" r:id="rId13"/>
    <p:sldId id="274" r:id="rId14"/>
    <p:sldId id="277" r:id="rId15"/>
    <p:sldId id="283" r:id="rId16"/>
    <p:sldId id="287" r:id="rId17"/>
    <p:sldId id="290" r:id="rId18"/>
    <p:sldId id="288" r:id="rId19"/>
    <p:sldId id="289" r:id="rId20"/>
    <p:sldId id="291" r:id="rId21"/>
    <p:sldId id="279" r:id="rId2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7711"/>
    <a:srgbClr val="107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67" autoAdjust="0"/>
    <p:restoredTop sz="98893" autoAdjust="0"/>
  </p:normalViewPr>
  <p:slideViewPr>
    <p:cSldViewPr snapToGrid="0" snapToObjects="1">
      <p:cViewPr varScale="1">
        <p:scale>
          <a:sx n="164" d="100"/>
          <a:sy n="164" d="100"/>
        </p:scale>
        <p:origin x="82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35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8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51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0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37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2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53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01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550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8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B8C1A67D-968A-BB4F-A20E-8497A9B4AC36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1638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2EDF455-7F3E-2146-A1E6-703880F350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56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3744" y="74257"/>
            <a:ext cx="8566378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3744" y="1155103"/>
            <a:ext cx="8566378" cy="389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270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4572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rkwitt.org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cikit-learn.org/stable/" TargetMode="External"/><Relationship Id="rId2" Type="http://schemas.openxmlformats.org/officeDocument/2006/relationships/hyperlink" Target="https://pytorch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cikit-image.org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deeplearningbook.org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szeliski.org/Book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google.com/citations?view_op=top_venues&amp;hl=en&amp;vq=eng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7" Type="http://schemas.openxmlformats.org/officeDocument/2006/relationships/image" Target="../media/image23.tiff"/><Relationship Id="rId2" Type="http://schemas.openxmlformats.org/officeDocument/2006/relationships/image" Target="../media/image18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tiff"/><Relationship Id="rId5" Type="http://schemas.openxmlformats.org/officeDocument/2006/relationships/image" Target="../media/image21.tiff"/><Relationship Id="rId4" Type="http://schemas.openxmlformats.org/officeDocument/2006/relationships/image" Target="../media/image20.tif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cbi.nlm.nih.gov/pubmed/4966457" TargetMode="External"/><Relationship Id="rId2" Type="http://schemas.openxmlformats.org/officeDocument/2006/relationships/hyperlink" Target="http://hubel.med.harvard.edu/book/bcontex.h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71038"/>
            <a:ext cx="7772400" cy="180586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Computer Vision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sz="3000" b="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(Winter term 26/27)</a:t>
            </a:r>
            <a:br>
              <a:rPr lang="en-US" sz="3000" b="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</a:br>
            <a:br>
              <a:rPr lang="en-US" sz="3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</a:br>
            <a:r>
              <a:rPr lang="en-US" sz="1300" b="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UD 033 536 </a:t>
            </a:r>
            <a:r>
              <a:rPr lang="en-US" sz="1300" b="0" dirty="0" err="1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Bachelorstudium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;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Artificial Intelligence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, 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UD 066 991 </a:t>
            </a:r>
            <a:r>
              <a:rPr lang="en-US" sz="1300" b="0" dirty="0" err="1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Masterstudium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;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JDP Applied Image and Signal Processing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, UD 066 645 </a:t>
            </a:r>
            <a:r>
              <a:rPr lang="en-US" sz="1300" b="0" dirty="0" err="1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Masterstudium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;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Data Science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, etc.</a:t>
            </a:r>
            <a:r>
              <a:rPr lang="en-US" sz="1300" b="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818974"/>
            <a:ext cx="9144000" cy="180586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Roland </a:t>
            </a:r>
            <a:r>
              <a:rPr lang="en-US" sz="18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Kwitt</a:t>
            </a:r>
            <a:endParaRPr lang="en-US" sz="18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Department of Artificial Intelligence and Human Interfaces</a:t>
            </a:r>
          </a:p>
          <a:p>
            <a:r>
              <a:rPr lang="en-US" sz="1600" dirty="0">
                <a:solidFill>
                  <a:schemeClr val="tx1"/>
                </a:solidFill>
                <a:latin typeface="Century Gothic" panose="020B0502020202020204" pitchFamily="34" charset="0"/>
              </a:rPr>
              <a:t>University of Salzburg, Austria</a:t>
            </a:r>
          </a:p>
        </p:txBody>
      </p:sp>
    </p:spTree>
    <p:extLst>
      <p:ext uri="{BB962C8B-B14F-4D97-AF65-F5344CB8AC3E}">
        <p14:creationId xmlns:p14="http://schemas.microsoft.com/office/powerpoint/2010/main" val="64749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Century Gothic" panose="020B0502020202020204" pitchFamily="34" charset="0"/>
              </a:rPr>
              <a:t>Logistics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entury Gothic" panose="020B0502020202020204" pitchFamily="34" charset="0"/>
              </a:rPr>
              <a:t>Resources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entury Gothic" panose="020B0502020202020204" pitchFamily="34" charset="0"/>
              </a:rPr>
              <a:t>What is computer vision?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Century Gothic" panose="020B0502020202020204" pitchFamily="34" charset="0"/>
              </a:rPr>
              <a:t>Some typical computer vision problems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B0F11E-EA48-3242-94AE-AEAA2DBD0D47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Schedule for today</a:t>
            </a:r>
            <a:endParaRPr lang="en-US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607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E-Mail: </a:t>
            </a:r>
            <a:r>
              <a:rPr lang="en-US" sz="1800" dirty="0">
                <a:latin typeface="Century Gothic" panose="020B0502020202020204" pitchFamily="34" charset="0"/>
              </a:rPr>
              <a:t>Roland [dot] </a:t>
            </a:r>
            <a:r>
              <a:rPr lang="en-US" sz="1800" dirty="0" err="1">
                <a:latin typeface="Century Gothic" panose="020B0502020202020204" pitchFamily="34" charset="0"/>
              </a:rPr>
              <a:t>Kwitt</a:t>
            </a:r>
            <a:r>
              <a:rPr lang="en-US" sz="1800" dirty="0">
                <a:latin typeface="Century Gothic" panose="020B0502020202020204" pitchFamily="34" charset="0"/>
              </a:rPr>
              <a:t> [at] plus [dot] ac [dot] at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Course material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: </a:t>
            </a:r>
            <a:r>
              <a:rPr lang="en-US" sz="1800" dirty="0">
                <a:latin typeface="Century Gothic" panose="020B0502020202020204" pitchFamily="34" charset="0"/>
              </a:rPr>
              <a:t>available online at </a:t>
            </a:r>
            <a:r>
              <a:rPr lang="en-US" sz="1800" dirty="0">
                <a:latin typeface="Century Gothic" panose="020B0502020202020204" pitchFamily="34" charset="0"/>
                <a:hlinkClick r:id="rId2"/>
              </a:rPr>
              <a:t>http://rkwitt.org</a:t>
            </a:r>
            <a:r>
              <a:rPr lang="en-US" sz="1800" dirty="0">
                <a:latin typeface="Century Gothic" panose="020B0502020202020204" pitchFamily="34" charset="0"/>
              </a:rPr>
              <a:t> (</a:t>
            </a:r>
            <a:r>
              <a:rPr lang="en-US" sz="1800" dirty="0">
                <a:latin typeface="Century Gothic" panose="020B0502020202020204" pitchFamily="34" charset="0"/>
                <a:sym typeface="Wingdings"/>
              </a:rPr>
              <a:t> </a:t>
            </a:r>
            <a:r>
              <a:rPr lang="en-US" sz="1800" dirty="0">
                <a:latin typeface="Century Gothic" panose="020B0502020202020204" pitchFamily="34" charset="0"/>
              </a:rPr>
              <a:t>Teaching)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37FD5E-EEF5-E74A-81D1-430F9B88E5EC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Logistics</a:t>
            </a:r>
            <a:endParaRPr lang="en-US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27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entury Gothic" panose="020B0502020202020204" pitchFamily="34" charset="0"/>
                <a:ea typeface="Linux Libertine" panose="02000503000000000000" pitchFamily="2" charset="0"/>
                <a:cs typeface="Linux Libertine" panose="02000503000000000000" pitchFamily="2" charset="0"/>
              </a:rPr>
              <a:t>Grading</a:t>
            </a:r>
          </a:p>
          <a:p>
            <a:pPr marL="0" indent="0">
              <a:buNone/>
            </a:pPr>
            <a:endParaRPr lang="en-US" sz="1800" b="1" dirty="0">
              <a:latin typeface="Century Gothic" panose="020B0502020202020204" pitchFamily="34" charset="0"/>
              <a:ea typeface="Linux Libertine" panose="02000503000000000000" pitchFamily="2" charset="0"/>
              <a:cs typeface="Linux Libertine" panose="02000503000000000000" pitchFamily="2" charset="0"/>
            </a:endParaRPr>
          </a:p>
          <a:p>
            <a:pPr marL="0" indent="0">
              <a:buNone/>
            </a:pPr>
            <a:r>
              <a:rPr lang="en-US" sz="1800" b="1" dirty="0">
                <a:latin typeface="Century Gothic" panose="020B0502020202020204" pitchFamily="34" charset="0"/>
                <a:ea typeface="Linux Libertine" panose="02000503000000000000" pitchFamily="2" charset="0"/>
                <a:cs typeface="Linux Libertine" panose="02000503000000000000" pitchFamily="2" charset="0"/>
              </a:rPr>
              <a:t>1 final exam </a:t>
            </a:r>
            <a:r>
              <a:rPr lang="en-US" sz="1800" dirty="0">
                <a:latin typeface="Century Gothic" panose="020B0502020202020204" pitchFamily="34" charset="0"/>
                <a:ea typeface="Linux Libertine" panose="02000503000000000000" pitchFamily="2" charset="0"/>
                <a:cs typeface="Linux Libertine" panose="02000503000000000000" pitchFamily="2" charset="0"/>
              </a:rPr>
              <a:t>at the end of the course (see course website for details)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9A0C34-2781-294F-AE9F-D75A3FBDFD49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Logistics</a:t>
            </a:r>
            <a:endParaRPr lang="en-US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98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Century Gothic" panose="020B0502020202020204" pitchFamily="34" charset="0"/>
              </a:rPr>
              <a:t>PyTorch</a:t>
            </a:r>
            <a:r>
              <a:rPr lang="en-US" sz="1800" dirty="0">
                <a:latin typeface="Century Gothic" panose="020B0502020202020204" pitchFamily="34" charset="0"/>
              </a:rPr>
              <a:t> (most recent version v2.8)</a:t>
            </a:r>
            <a:endParaRPr lang="en-US" sz="1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hlinkClick r:id="rId2"/>
              </a:rPr>
              <a:t>https://pytorch.org/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scikit-learn </a:t>
            </a:r>
            <a:r>
              <a:rPr lang="en-US" sz="1800" dirty="0">
                <a:latin typeface="Century Gothic" panose="020B0502020202020204" pitchFamily="34" charset="0"/>
              </a:rPr>
              <a:t>(Python)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hlinkClick r:id="rId3"/>
              </a:rPr>
              <a:t>http://scikit-learn.org/stable/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b="1" dirty="0" err="1">
                <a:latin typeface="Century Gothic" panose="020B0502020202020204" pitchFamily="34" charset="0"/>
              </a:rPr>
              <a:t>scikit</a:t>
            </a:r>
            <a:r>
              <a:rPr lang="en-US" sz="1800" b="1" dirty="0">
                <a:latin typeface="Century Gothic" panose="020B0502020202020204" pitchFamily="34" charset="0"/>
              </a:rPr>
              <a:t>-image </a:t>
            </a:r>
            <a:r>
              <a:rPr lang="en-US" sz="1800" dirty="0">
                <a:latin typeface="Century Gothic" panose="020B0502020202020204" pitchFamily="34" charset="0"/>
              </a:rPr>
              <a:t>(Python)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hlinkClick r:id="rId4"/>
              </a:rPr>
              <a:t>http://scikit-image.org</a:t>
            </a:r>
            <a:r>
              <a:rPr lang="en-US" sz="1800" dirty="0">
                <a:latin typeface="Century Gothic" panose="020B0502020202020204" pitchFamily="34" charset="0"/>
              </a:rPr>
              <a:t> </a:t>
            </a:r>
          </a:p>
          <a:p>
            <a:pPr marL="0" indent="0"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A242BE-7183-0548-BC4F-DE08E5071B02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Resources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EDF9F89-44DC-59B5-5693-EE4C6EBA296B}"/>
              </a:ext>
            </a:extLst>
          </p:cNvPr>
          <p:cNvSpPr txBox="1">
            <a:spLocks/>
          </p:cNvSpPr>
          <p:nvPr/>
        </p:nvSpPr>
        <p:spPr>
          <a:xfrm>
            <a:off x="283166" y="4479073"/>
            <a:ext cx="8566378" cy="566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effectLst/>
                <a:latin typeface="Century Gothic" panose="020B0502020202020204" pitchFamily="34" charset="0"/>
              </a:rPr>
              <a:t>last time I checked, they are pre-installed when running Google Collab. </a:t>
            </a:r>
            <a:endParaRPr lang="en-US" sz="1200" dirty="0"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10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“Deep Learning”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Goodfellow, </a:t>
            </a:r>
            <a:r>
              <a:rPr lang="en-US" sz="1800" dirty="0" err="1">
                <a:latin typeface="Century Gothic" panose="020B0502020202020204" pitchFamily="34" charset="0"/>
              </a:rPr>
              <a:t>Bengio</a:t>
            </a:r>
            <a:r>
              <a:rPr lang="en-US" sz="1800" dirty="0">
                <a:latin typeface="Century Gothic" panose="020B0502020202020204" pitchFamily="34" charset="0"/>
              </a:rPr>
              <a:t>, Courville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hlinkClick r:id="rId2"/>
              </a:rPr>
              <a:t>http://www.deeplearningbook.org/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</a:rPr>
              <a:t>Please check the course website for updates on relevant research papers.</a:t>
            </a:r>
          </a:p>
          <a:p>
            <a:pPr marL="0" indent="0"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latin typeface="Century Gothic" panose="020B0502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A242BE-7183-0548-BC4F-DE08E5071B02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Resources</a:t>
            </a:r>
            <a:endParaRPr lang="en-US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9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0CEC707-C109-6C4F-B46A-F9B59C36D5A6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Resources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30D71D3-8C56-E74C-82B7-9AC1565A375E}"/>
              </a:ext>
            </a:extLst>
          </p:cNvPr>
          <p:cNvSpPr txBox="1">
            <a:spLocks/>
          </p:cNvSpPr>
          <p:nvPr/>
        </p:nvSpPr>
        <p:spPr>
          <a:xfrm>
            <a:off x="436144" y="1307504"/>
            <a:ext cx="8566378" cy="3230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800" dirty="0">
                <a:latin typeface="Century Gothic" panose="020B0502020202020204" pitchFamily="34" charset="0"/>
              </a:rPr>
              <a:t>We will mostly be talking about </a:t>
            </a:r>
            <a:r>
              <a:rPr lang="en-US" sz="1800" b="1" dirty="0">
                <a:latin typeface="Century Gothic" panose="020B0502020202020204" pitchFamily="34" charset="0"/>
              </a:rPr>
              <a:t>“modern” </a:t>
            </a:r>
            <a:r>
              <a:rPr lang="en-US" sz="1800" dirty="0">
                <a:latin typeface="Century Gothic" panose="020B0502020202020204" pitchFamily="34" charset="0"/>
              </a:rPr>
              <a:t>approaches to computer vision, using (deep) neural networks.</a:t>
            </a:r>
          </a:p>
          <a:p>
            <a:pPr marL="0" indent="0">
              <a:buFont typeface="Arial"/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Font typeface="Arial"/>
              <a:buNone/>
            </a:pPr>
            <a:r>
              <a:rPr lang="en-US" sz="1800" dirty="0">
                <a:latin typeface="Century Gothic" panose="020B0502020202020204" pitchFamily="34" charset="0"/>
              </a:rPr>
              <a:t>However, I still do want to mention a “classic” vision book which is definitely worth reading.</a:t>
            </a:r>
          </a:p>
          <a:p>
            <a:pPr marL="0" indent="0">
              <a:buFont typeface="Arial"/>
              <a:buNone/>
            </a:pP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Font typeface="Arial"/>
              <a:buNone/>
            </a:pPr>
            <a:r>
              <a:rPr lang="en-US" sz="1800" b="1" dirty="0">
                <a:latin typeface="Century Gothic" panose="020B0502020202020204" pitchFamily="34" charset="0"/>
              </a:rPr>
              <a:t>“Computer Vision: Algorithms and Applications”</a:t>
            </a:r>
          </a:p>
          <a:p>
            <a:pPr marL="0" indent="0">
              <a:buFont typeface="Arial"/>
              <a:buNone/>
            </a:pPr>
            <a:r>
              <a:rPr lang="en-US" sz="1800" dirty="0">
                <a:latin typeface="Century Gothic" panose="020B0502020202020204" pitchFamily="34" charset="0"/>
              </a:rPr>
              <a:t>R., </a:t>
            </a:r>
            <a:r>
              <a:rPr lang="en-US" sz="1800" dirty="0" err="1">
                <a:latin typeface="Century Gothic" panose="020B0502020202020204" pitchFamily="34" charset="0"/>
              </a:rPr>
              <a:t>Szeliski</a:t>
            </a:r>
            <a:r>
              <a:rPr lang="en-US" sz="1800" dirty="0">
                <a:latin typeface="Century Gothic" panose="020B0502020202020204" pitchFamily="34" charset="0"/>
              </a:rPr>
              <a:t>, 2010</a:t>
            </a:r>
          </a:p>
          <a:p>
            <a:pPr marL="0" indent="0">
              <a:buNone/>
            </a:pPr>
            <a:r>
              <a:rPr lang="en-US" sz="1800" dirty="0">
                <a:latin typeface="Century Gothic" panose="020B0502020202020204" pitchFamily="34" charset="0"/>
                <a:hlinkClick r:id="rId2"/>
              </a:rPr>
              <a:t>http://szeliski.org/Book/</a:t>
            </a:r>
            <a:endParaRPr lang="en-US" sz="1800" dirty="0">
              <a:latin typeface="Century Gothic" panose="020B0502020202020204" pitchFamily="34" charset="0"/>
            </a:endParaRPr>
          </a:p>
          <a:p>
            <a:pPr marL="0" indent="0">
              <a:buFont typeface="Arial"/>
              <a:buNone/>
            </a:pPr>
            <a:endParaRPr lang="en-US" sz="1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213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42" y="959233"/>
            <a:ext cx="2762791" cy="1820192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38080" y="3042345"/>
            <a:ext cx="8335055" cy="180153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The </a:t>
            </a: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human visual system (HVS)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 is remarkably good at so many tasks, e.g.,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	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- detecting people &amp; object’s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	- perceiving translucency, shape, color (see figure on the left),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	- counting people &amp; vehicles (see middle figure)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	- recognizing scenes, etc.</a:t>
            </a:r>
          </a:p>
        </p:txBody>
      </p:sp>
      <p:pic>
        <p:nvPicPr>
          <p:cNvPr id="5" name="Picture 4" descr="27862-hi-traffic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23" y="959233"/>
            <a:ext cx="2759958" cy="1820192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3823794" y="3483105"/>
            <a:ext cx="5026329" cy="1666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9" descr="Bike_Sidewalk_Borderstan-580x403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266" y="959233"/>
            <a:ext cx="2619631" cy="18201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9134" y="2758297"/>
            <a:ext cx="2762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Courtesy of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Szeliski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32528" y="2758297"/>
            <a:ext cx="2619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(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Luiz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 Gomez Photos)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EC25016-F891-6F4B-AD11-92D311AE1EA7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What is computer vision?</a:t>
            </a:r>
            <a:endParaRPr lang="en-US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4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EC25016-F891-6F4B-AD11-92D311AE1EA7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What is computer vision?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79BA8D-319C-2E40-BE68-D6A79A0B767B}"/>
              </a:ext>
            </a:extLst>
          </p:cNvPr>
          <p:cNvSpPr txBox="1">
            <a:spLocks/>
          </p:cNvSpPr>
          <p:nvPr/>
        </p:nvSpPr>
        <p:spPr>
          <a:xfrm>
            <a:off x="321146" y="956016"/>
            <a:ext cx="8335055" cy="1615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Remarkable fact: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A substantial fraction of the macaque’s total cortical area is devoted to vision (approx. 15% according to </a:t>
            </a:r>
            <a:r>
              <a:rPr lang="en-US" sz="1400" dirty="0">
                <a:solidFill>
                  <a:srgbClr val="0070C0"/>
                </a:solidFill>
                <a:latin typeface="Century Gothic" panose="020B0502020202020204" pitchFamily="34" charset="0"/>
              </a:rPr>
              <a:t>[Hubel, “Eye, Brain and Vision”]</a:t>
            </a:r>
            <a:r>
              <a:rPr lang="en-US" sz="1400" dirty="0">
                <a:solidFill>
                  <a:srgbClr val="00B050"/>
                </a:solidFill>
                <a:latin typeface="Century Gothic" panose="020B0502020202020204" pitchFamily="34" charset="0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2641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276109" y="1008669"/>
            <a:ext cx="8566378" cy="33236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We want to build systems for </a:t>
            </a:r>
            <a:r>
              <a:rPr lang="en-US" sz="1800" b="1" dirty="0">
                <a:latin typeface="Century Gothic" panose="020B0502020202020204" pitchFamily="34" charset="0"/>
              </a:rPr>
              <a:t>automatic understanding of images/videos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This includes, </a:t>
            </a:r>
            <a:r>
              <a:rPr lang="en-US" sz="1800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but is not limited to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	1) inferring properties of the 3D world 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(measurement)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	2) enabling recognition of objects, people, scenes, etc. 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(perception)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	3) mining, searching and interacting with visual data </a:t>
            </a: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(search / organization)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119846" y="5600517"/>
            <a:ext cx="8878904" cy="3468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Slide adapted from Kristen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Grauman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, “Introduction to Computer Vision”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4038BD5-0DA6-9F42-A30E-3D725AD819C5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What is computer vision?</a:t>
            </a:r>
            <a:endParaRPr lang="en-US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401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"/>
          <p:cNvSpPr txBox="1">
            <a:spLocks/>
          </p:cNvSpPr>
          <p:nvPr/>
        </p:nvSpPr>
        <p:spPr>
          <a:xfrm>
            <a:off x="119846" y="5600517"/>
            <a:ext cx="8878904" cy="3468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Slide adapted from Kristen </a:t>
            </a:r>
            <a:r>
              <a:rPr lang="en-US" sz="1400" dirty="0" err="1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Grauman</a:t>
            </a:r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Century Gothic" panose="020B0502020202020204" pitchFamily="34" charset="0"/>
              </a:rPr>
              <a:t>, “Introduction to Computer Vision”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953270" y="1409766"/>
            <a:ext cx="4516608" cy="2410749"/>
            <a:chOff x="823254" y="3927664"/>
            <a:chExt cx="4516608" cy="2410749"/>
          </a:xfrm>
        </p:grpSpPr>
        <p:sp>
          <p:nvSpPr>
            <p:cNvPr id="15" name="TextBox 14"/>
            <p:cNvSpPr txBox="1"/>
            <p:nvPr/>
          </p:nvSpPr>
          <p:spPr>
            <a:xfrm>
              <a:off x="3715699" y="4929226"/>
              <a:ext cx="16241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000000"/>
                  </a:solidFill>
                  <a:latin typeface="Century Gothic" panose="020B0502020202020204" pitchFamily="34" charset="0"/>
                </a:rPr>
                <a:t>Computer Vision</a:t>
              </a: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823254" y="3927664"/>
              <a:ext cx="2324174" cy="2410749"/>
              <a:chOff x="-1175686" y="3829051"/>
              <a:chExt cx="2324174" cy="2410749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-1175686" y="5406280"/>
                <a:ext cx="23241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Machine Learning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-1168297" y="4354794"/>
                <a:ext cx="231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Image Processing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-1175686" y="5932023"/>
                <a:ext cx="23241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Cognitive Science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-1168297" y="3829051"/>
                <a:ext cx="231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Graphics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-781849" y="4880537"/>
                <a:ext cx="193033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sz="1400" dirty="0">
                    <a:solidFill>
                      <a:srgbClr val="FF0000"/>
                    </a:solidFill>
                    <a:latin typeface="Century Gothic" panose="020B0502020202020204" pitchFamily="34" charset="0"/>
                  </a:rPr>
                  <a:t>Artificial Intelligence</a:t>
                </a:r>
              </a:p>
            </p:txBody>
          </p:sp>
        </p:grpSp>
        <p:cxnSp>
          <p:nvCxnSpPr>
            <p:cNvPr id="32" name="Straight Arrow Connector 31"/>
            <p:cNvCxnSpPr/>
            <p:nvPr/>
          </p:nvCxnSpPr>
          <p:spPr>
            <a:xfrm>
              <a:off x="3147428" y="4181759"/>
              <a:ext cx="838505" cy="77448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3147428" y="4707502"/>
              <a:ext cx="568271" cy="325688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3147428" y="5194773"/>
              <a:ext cx="56827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V="1">
              <a:off x="3147428" y="5309419"/>
              <a:ext cx="568271" cy="47007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 flipV="1">
              <a:off x="3147428" y="5406280"/>
              <a:ext cx="838505" cy="84328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 w="med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itle 1">
            <a:extLst>
              <a:ext uri="{FF2B5EF4-FFF2-40B4-BE49-F238E27FC236}">
                <a16:creationId xmlns:a16="http://schemas.microsoft.com/office/drawing/2014/main" id="{CDC02BF5-7E4A-6543-A854-34053B5752B8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What is computer vision?</a:t>
            </a:r>
            <a:endParaRPr lang="en-US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693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ypertrophic patchymeningitis mri brain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032" y="661465"/>
            <a:ext cx="2910679" cy="194106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Picture 4" descr="cell imaging frontpage.jpg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45" y="661465"/>
            <a:ext cx="2594843" cy="194106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7" name="Picture 6" descr="Surveillance_video_cameras,_Gdynia.jpeg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904" y="661465"/>
            <a:ext cx="2471351" cy="194106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4049146" y="5585034"/>
            <a:ext cx="449356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Social Media</a:t>
            </a:r>
          </a:p>
        </p:txBody>
      </p:sp>
      <p:pic>
        <p:nvPicPr>
          <p:cNvPr id="9" name="Picture 8" descr="google-car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45" y="2780501"/>
            <a:ext cx="2594843" cy="164592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2" name="Picture 11" descr="5619057200_efc8b2fdf7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905" y="2780501"/>
            <a:ext cx="2471351" cy="1645920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13" name="Picture 12" descr="20130711_WithAtlas-2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032" y="2780501"/>
            <a:ext cx="2910679" cy="164592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283745" y="4426421"/>
            <a:ext cx="25948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Autonomous Cars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53905" y="4426421"/>
            <a:ext cx="2471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Mapping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32031" y="4426421"/>
            <a:ext cx="29106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Robotics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744" y="292133"/>
            <a:ext cx="2471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Bio-Imaging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53905" y="301521"/>
            <a:ext cx="24713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Surveillance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40795" y="301521"/>
            <a:ext cx="29019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Medical Imaging</a:t>
            </a:r>
          </a:p>
        </p:txBody>
      </p:sp>
    </p:spTree>
    <p:extLst>
      <p:ext uri="{BB962C8B-B14F-4D97-AF65-F5344CB8AC3E}">
        <p14:creationId xmlns:p14="http://schemas.microsoft.com/office/powerpoint/2010/main" val="236134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744" y="682887"/>
            <a:ext cx="8566378" cy="43519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Conferences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	Computer Vision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Computer Vision and Pattern Recognition (CVPR)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International Conference on Computer Vision (ICCV)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European Conference on Computer Vision (ECCV)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British Machine Vision Conference (BMVC)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Machine learning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Neural Information Processing Systems (NIPS)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International Conference on Machine Learning (ICML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International Conference on Learning Representations (ICLR)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F7049BC-0C6F-114D-B975-608A5D5CF31D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Overview of the field</a:t>
            </a:r>
            <a:endParaRPr lang="en-US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342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9B0DCCC-9B43-F343-8787-0328C6D7BFF6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Overview of the field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14ED0B-61CC-BD4F-B822-5B7FBBCDCB66}"/>
              </a:ext>
            </a:extLst>
          </p:cNvPr>
          <p:cNvSpPr/>
          <p:nvPr/>
        </p:nvSpPr>
        <p:spPr>
          <a:xfrm>
            <a:off x="4052711" y="4866501"/>
            <a:ext cx="50690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200" dirty="0">
                <a:latin typeface="Century Gothic" panose="020B0502020202020204" pitchFamily="34" charset="0"/>
              </a:rPr>
              <a:t>Google scholar, Engineering &amp; Computer Science (as of Oct. 19)</a:t>
            </a:r>
            <a:endParaRPr lang="en-US" sz="12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2B57AD5-2500-7060-C47E-C9349099D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109" y="1008669"/>
            <a:ext cx="8566378" cy="332363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Some metrics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: check out Google scholar on that, 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  <a:hlinkClick r:id="rId2"/>
              </a:rPr>
              <a:t>here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57835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7049BC-0C6F-114D-B975-608A5D5CF31D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Typical vision problems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499CF3-77B8-6645-8ED8-467C7F1F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44" y="682887"/>
            <a:ext cx="8566378" cy="43519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Recognition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	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5C850A-596E-2F4F-A43D-A14EDB50E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61" y="1256947"/>
            <a:ext cx="2995762" cy="16891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62F0B2-A5C5-124F-8768-57E736B2569F}"/>
              </a:ext>
            </a:extLst>
          </p:cNvPr>
          <p:cNvCxnSpPr/>
          <p:nvPr/>
        </p:nvCxnSpPr>
        <p:spPr>
          <a:xfrm>
            <a:off x="3464644" y="2044697"/>
            <a:ext cx="568271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9417B43-2B43-1E42-855C-6164543C3233}"/>
              </a:ext>
            </a:extLst>
          </p:cNvPr>
          <p:cNvSpPr/>
          <p:nvPr/>
        </p:nvSpPr>
        <p:spPr>
          <a:xfrm>
            <a:off x="3987759" y="1860031"/>
            <a:ext cx="2021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“Saiga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antilope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”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932164-80A5-DB49-9275-0890D35C9066}"/>
              </a:ext>
            </a:extLst>
          </p:cNvPr>
          <p:cNvSpPr/>
          <p:nvPr/>
        </p:nvSpPr>
        <p:spPr>
          <a:xfrm>
            <a:off x="293878" y="3047479"/>
            <a:ext cx="80938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Task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: Label an image by its </a:t>
            </a:r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class membership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, e.g., the class would be </a:t>
            </a:r>
          </a:p>
          <a:p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”Saiga </a:t>
            </a:r>
            <a:r>
              <a:rPr lang="en-US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antilope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” in the example above.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086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7049BC-0C6F-114D-B975-608A5D5CF31D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Typical vision problems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499CF3-77B8-6645-8ED8-467C7F1F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44" y="682887"/>
            <a:ext cx="8566378" cy="43519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Segmentation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	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C89805-1FB0-9E41-9D05-8739DA730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32" y="1179689"/>
            <a:ext cx="3434715" cy="2748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8372CF-A2AD-8645-A2D1-499F8F2D6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6681" y="1179688"/>
            <a:ext cx="3390948" cy="27488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E476DC8-904F-8F4A-B078-DE813667DC56}"/>
              </a:ext>
            </a:extLst>
          </p:cNvPr>
          <p:cNvSpPr/>
          <p:nvPr/>
        </p:nvSpPr>
        <p:spPr>
          <a:xfrm>
            <a:off x="293878" y="4007034"/>
            <a:ext cx="74158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Task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: Label </a:t>
            </a:r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each pixel 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of an image by its class membership, e.g.,</a:t>
            </a:r>
          </a:p>
          <a:p>
            <a:r>
              <a:rPr lang="en-US" dirty="0">
                <a:solidFill>
                  <a:srgbClr val="1078D3"/>
                </a:solidFill>
                <a:latin typeface="Century Gothic" panose="020B0502020202020204" pitchFamily="34" charset="0"/>
              </a:rPr>
              <a:t>“Human” 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vs. </a:t>
            </a:r>
            <a:r>
              <a:rPr lang="en-US" dirty="0">
                <a:solidFill>
                  <a:srgbClr val="127711"/>
                </a:solidFill>
                <a:latin typeface="Century Gothic" panose="020B0502020202020204" pitchFamily="34" charset="0"/>
              </a:rPr>
              <a:t>“Sheep” 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vs. Background in the example.</a:t>
            </a:r>
          </a:p>
        </p:txBody>
      </p:sp>
    </p:spTree>
    <p:extLst>
      <p:ext uri="{BB962C8B-B14F-4D97-AF65-F5344CB8AC3E}">
        <p14:creationId xmlns:p14="http://schemas.microsoft.com/office/powerpoint/2010/main" val="2650950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7049BC-0C6F-114D-B975-608A5D5CF31D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Typical vision problems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499CF3-77B8-6645-8ED8-467C7F1F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44" y="682887"/>
            <a:ext cx="8566378" cy="43519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Detection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	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D2966E-3790-7E4A-B7CF-B76B6BCF1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89" y="1211439"/>
            <a:ext cx="4572000" cy="25717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84A768A-1A64-2C43-BD4F-E3F794DA6653}"/>
              </a:ext>
            </a:extLst>
          </p:cNvPr>
          <p:cNvSpPr/>
          <p:nvPr/>
        </p:nvSpPr>
        <p:spPr>
          <a:xfrm>
            <a:off x="305436" y="3932061"/>
            <a:ext cx="89210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Task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: </a:t>
            </a:r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Locate and label 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objects. E.g., each object is (1) marked by a bounding </a:t>
            </a:r>
          </a:p>
          <a:p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box (i.e., coordinates) and (2) assigned a class/object label.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9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7049BC-0C6F-114D-B975-608A5D5CF31D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Typical vision problems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499CF3-77B8-6645-8ED8-467C7F1F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44" y="682887"/>
            <a:ext cx="8566378" cy="43519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Panoptic Segmentation</a:t>
            </a:r>
          </a:p>
          <a:p>
            <a:pPr marL="0" lvl="1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	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4A768A-1A64-2C43-BD4F-E3F794DA6653}"/>
              </a:ext>
            </a:extLst>
          </p:cNvPr>
          <p:cNvSpPr/>
          <p:nvPr/>
        </p:nvSpPr>
        <p:spPr>
          <a:xfrm>
            <a:off x="283744" y="3618099"/>
            <a:ext cx="7439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Century Gothic" panose="020B0502020202020204" pitchFamily="34" charset="0"/>
              </a:rPr>
              <a:t>Goal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: Unify 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semantic segmentation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 and </a:t>
            </a:r>
            <a:r>
              <a:rPr lang="en-US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instance segmentation</a:t>
            </a:r>
            <a:r>
              <a:rPr lang="en-US" dirty="0">
                <a:solidFill>
                  <a:srgbClr val="000000"/>
                </a:solidFill>
                <a:latin typeface="Century Gothic" panose="020B0502020202020204" pitchFamily="34" charset="0"/>
              </a:rPr>
              <a:t>.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1E162A-1496-A642-B1ED-0ED44FCB4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8" y="1518898"/>
            <a:ext cx="2088818" cy="1289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F003C8-6D94-F945-AE10-BE5EFE702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1774" y="1518898"/>
            <a:ext cx="2088818" cy="12896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066F5E-9848-3042-8994-697EEF78F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523" y="1518897"/>
            <a:ext cx="2088816" cy="12896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FDBD84-E918-7845-A157-6C8E064AF1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270" y="1518896"/>
            <a:ext cx="2088816" cy="12896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EBB5BCD-94AC-3143-8504-A17630FAA945}"/>
              </a:ext>
            </a:extLst>
          </p:cNvPr>
          <p:cNvSpPr/>
          <p:nvPr/>
        </p:nvSpPr>
        <p:spPr>
          <a:xfrm>
            <a:off x="2987259" y="2805190"/>
            <a:ext cx="1391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Semantic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segmentation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CC9745-0095-E244-BF5E-DBDB8752C2A8}"/>
              </a:ext>
            </a:extLst>
          </p:cNvPr>
          <p:cNvSpPr/>
          <p:nvPr/>
        </p:nvSpPr>
        <p:spPr>
          <a:xfrm>
            <a:off x="5119067" y="2781324"/>
            <a:ext cx="1391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Instance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segmentation</a:t>
            </a:r>
            <a:endParaRPr lang="en-US" sz="1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F63471-274C-7448-B5AC-F31A52038326}"/>
              </a:ext>
            </a:extLst>
          </p:cNvPr>
          <p:cNvSpPr/>
          <p:nvPr/>
        </p:nvSpPr>
        <p:spPr>
          <a:xfrm>
            <a:off x="7297814" y="2805190"/>
            <a:ext cx="13917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Panoptic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segmentation</a:t>
            </a:r>
            <a:endParaRPr lang="en-US" sz="1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B7911C-DCCD-6346-9349-8A47F9F4270F}"/>
              </a:ext>
            </a:extLst>
          </p:cNvPr>
          <p:cNvSpPr/>
          <p:nvPr/>
        </p:nvSpPr>
        <p:spPr>
          <a:xfrm>
            <a:off x="4816373" y="1257846"/>
            <a:ext cx="432842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>
                <a:latin typeface="Century Gothic" panose="020B0502020202020204" pitchFamily="34" charset="0"/>
              </a:rPr>
              <a:t>Image source</a:t>
            </a:r>
            <a:r>
              <a:rPr lang="en-US" sz="1000" dirty="0">
                <a:latin typeface="Century Gothic" panose="020B0502020202020204" pitchFamily="34" charset="0"/>
              </a:rPr>
              <a:t>: Kirillov et al., “Panoptic Segmentation”, In: CVPR ‘19</a:t>
            </a:r>
          </a:p>
        </p:txBody>
      </p:sp>
    </p:spTree>
    <p:extLst>
      <p:ext uri="{BB962C8B-B14F-4D97-AF65-F5344CB8AC3E}">
        <p14:creationId xmlns:p14="http://schemas.microsoft.com/office/powerpoint/2010/main" val="2892163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7049BC-0C6F-114D-B975-608A5D5CF31D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Typical vision problems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499CF3-77B8-6645-8ED8-467C7F1F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44" y="682887"/>
            <a:ext cx="8566378" cy="43519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Image-to-Image translation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1E0076-393B-5E46-B04E-16B3619AA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28" y="1195871"/>
            <a:ext cx="1600906" cy="16009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0BBA99-268B-304C-A123-2AC7C5F2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618" y="1195870"/>
            <a:ext cx="1600906" cy="1600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3C9FF-C291-4747-B4EB-F80A4878B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254" y="3197483"/>
            <a:ext cx="1600907" cy="1606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E7F80E-008F-1746-A5DE-669D547DCC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617" y="3197483"/>
            <a:ext cx="1600907" cy="160635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C3A26C-8543-1943-B106-9C0D896D5A36}"/>
              </a:ext>
            </a:extLst>
          </p:cNvPr>
          <p:cNvSpPr/>
          <p:nvPr/>
        </p:nvSpPr>
        <p:spPr>
          <a:xfrm>
            <a:off x="1434056" y="2843239"/>
            <a:ext cx="12522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Arial 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  <a:sym typeface="Wingdings" pitchFamily="2" charset="2"/>
              </a:rPr>
              <a:t> Map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040515-347E-B946-B8D7-90759A8768A7}"/>
              </a:ext>
            </a:extLst>
          </p:cNvPr>
          <p:cNvSpPr/>
          <p:nvPr/>
        </p:nvSpPr>
        <p:spPr>
          <a:xfrm>
            <a:off x="1560920" y="4803835"/>
            <a:ext cx="12057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BW 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  <a:sym typeface="Wingdings" pitchFamily="2" charset="2"/>
              </a:rPr>
              <a:t> Color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EE6DF9-B8BE-044D-BBEE-A5E64585FC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0512" y="1314097"/>
            <a:ext cx="3249598" cy="16009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453670-B861-2D4F-B044-D3CAA43F96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0512" y="3050467"/>
            <a:ext cx="3241634" cy="160090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2D019D4-8EED-9845-817C-7BABD8A8F090}"/>
              </a:ext>
            </a:extLst>
          </p:cNvPr>
          <p:cNvSpPr/>
          <p:nvPr/>
        </p:nvSpPr>
        <p:spPr>
          <a:xfrm rot="5400000">
            <a:off x="7112378" y="2636847"/>
            <a:ext cx="19736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Label map 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  <a:sym typeface="Wingdings" pitchFamily="2" charset="2"/>
              </a:rPr>
              <a:t> Image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68061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EFA49-4ABF-D4BA-7DB0-46FEFBC9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3B8AF17-878D-9E5A-A145-EEB11F6C853D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Typical vision problems</a:t>
            </a:r>
            <a:endParaRPr lang="en-US" b="0" dirty="0"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68818FA-CD92-E88E-6FFB-BF535366F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44" y="682887"/>
            <a:ext cx="8566378" cy="43519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Text-to-Image Generation: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 descr="A cartoon bird with red and black feathers&#10;&#10;Description automatically generated">
            <a:extLst>
              <a:ext uri="{FF2B5EF4-FFF2-40B4-BE49-F238E27FC236}">
                <a16:creationId xmlns:a16="http://schemas.microsoft.com/office/drawing/2014/main" id="{4E1DCA68-A155-AA45-80CB-621AC91DE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16" y="1244599"/>
            <a:ext cx="1733551" cy="173355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409592C-6FBC-1384-5A23-3899DCB20301}"/>
              </a:ext>
            </a:extLst>
          </p:cNvPr>
          <p:cNvSpPr txBox="1">
            <a:spLocks/>
          </p:cNvSpPr>
          <p:nvPr/>
        </p:nvSpPr>
        <p:spPr>
          <a:xfrm>
            <a:off x="2161286" y="1143615"/>
            <a:ext cx="6644217" cy="793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/>
              <a:buNone/>
            </a:pP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Prompt 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ChatGpt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4o): “</a:t>
            </a:r>
            <a:r>
              <a:rPr lang="en-US" sz="1400" i="1" dirty="0">
                <a:solidFill>
                  <a:srgbClr val="000000"/>
                </a:solidFill>
                <a:latin typeface="Century Gothic" panose="020B0502020202020204" pitchFamily="34" charset="0"/>
              </a:rPr>
              <a:t>Create an image of an extremely angry bird.”</a:t>
            </a:r>
            <a:endParaRPr lang="en-US" sz="1400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Picture 16" descr="A cat wearing sunglasses and a shirt on a skateboard on a beach&#10;&#10;Description automatically generated">
            <a:extLst>
              <a:ext uri="{FF2B5EF4-FFF2-40B4-BE49-F238E27FC236}">
                <a16:creationId xmlns:a16="http://schemas.microsoft.com/office/drawing/2014/main" id="{5D4B61D3-BD3A-C5D2-37A0-736ABC06F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16" y="3093954"/>
            <a:ext cx="1733551" cy="1733551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871A0DD-9D56-D827-0111-EA4C754187C1}"/>
              </a:ext>
            </a:extLst>
          </p:cNvPr>
          <p:cNvSpPr txBox="1">
            <a:spLocks/>
          </p:cNvSpPr>
          <p:nvPr/>
        </p:nvSpPr>
        <p:spPr>
          <a:xfrm>
            <a:off x="2161285" y="2978150"/>
            <a:ext cx="6644217" cy="7930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4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Prompt 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ChatGpt</a:t>
            </a:r>
            <a:r>
              <a:rPr lang="en-US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 4o): “</a:t>
            </a:r>
            <a:r>
              <a:rPr lang="en-US" sz="1400" i="1" dirty="0">
                <a:latin typeface="Century Gothic" panose="020B0502020202020204" pitchFamily="34" charset="0"/>
              </a:rPr>
              <a:t>A photo of a Persian cat wearing sunglasses and a red shirt skateboarding on a beach.”</a:t>
            </a:r>
            <a:endParaRPr lang="en-US" sz="1400" i="1" dirty="0">
              <a:solidFill>
                <a:srgbClr val="00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198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166" y="1190887"/>
            <a:ext cx="8566378" cy="31496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Browse D. H. Hubel’s online book (Nobel prize winner, 1981)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  <a:hlinkClick r:id="rId2"/>
              </a:rPr>
              <a:t>http://hubel.med.harvard.edu/book/bcontex.htm</a:t>
            </a:r>
            <a:endParaRPr lang="en-US" sz="18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Read one of his and </a:t>
            </a:r>
            <a:r>
              <a:rPr lang="en-US" sz="18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Torsten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 Wiesel’s seminal papers, e.g.,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entury Gothic" panose="020B0502020202020204" pitchFamily="34" charset="0"/>
              </a:rPr>
              <a:t>Receptive Fields and Functional Architecture of Monkey Striate Cortex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D. H. Hubel and T. N. Wiesel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J. Physiol., 1968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  <a:hlinkClick r:id="rId3"/>
              </a:rPr>
              <a:t>http://www.ncbi.nlm.nih.gov/pubmed/4966457</a:t>
            </a:r>
            <a:r>
              <a:rPr lang="en-US" sz="1800" dirty="0">
                <a:solidFill>
                  <a:srgbClr val="000000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0633CF-63A0-174C-8638-429F4FECA23A}"/>
              </a:ext>
            </a:extLst>
          </p:cNvPr>
          <p:cNvSpPr txBox="1">
            <a:spLocks/>
          </p:cNvSpPr>
          <p:nvPr/>
        </p:nvSpPr>
        <p:spPr>
          <a:xfrm>
            <a:off x="84667" y="0"/>
            <a:ext cx="8963377" cy="85725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entury Gothic" panose="020B0502020202020204" pitchFamily="34" charset="0"/>
              </a:rPr>
              <a:t>Some interesting resources</a:t>
            </a:r>
            <a:endParaRPr lang="en-US" b="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164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1368</TotalTime>
  <Words>892</Words>
  <Application>Microsoft Macintosh PowerPoint</Application>
  <PresentationFormat>On-screen Show (16:9)</PresentationFormat>
  <Paragraphs>136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Century Gothic</vt:lpstr>
      <vt:lpstr>Office Theme</vt:lpstr>
      <vt:lpstr>Computer Vision (Winter term 26/27)  UD 033 536 Bachelorstudium; Artificial Intelligence, UD 066 991 Masterstudium; JDP Applied Image and Signal Processing, UD 066 645 Masterstudium; Data Science, etc.)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Image Processing and Computer Vision</dc:title>
  <dc:creator>Roland Kwitt</dc:creator>
  <cp:lastModifiedBy>Kwitt Roland</cp:lastModifiedBy>
  <cp:revision>188</cp:revision>
  <cp:lastPrinted>2013-11-04T13:38:44Z</cp:lastPrinted>
  <dcterms:created xsi:type="dcterms:W3CDTF">2013-11-02T22:51:15Z</dcterms:created>
  <dcterms:modified xsi:type="dcterms:W3CDTF">2026-09-27T13:30:32Z</dcterms:modified>
</cp:coreProperties>
</file>